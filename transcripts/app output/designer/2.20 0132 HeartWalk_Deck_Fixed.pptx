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800225"/>
            <a:ext cx="8229600" cy="914400"/>
          </a:xfrm>
          <a:prstGeom prst="rect">
            <a:avLst/>
          </a:prstGeom>
          <a:noFill/>
          <a:ln/>
        </p:spPr>
        <p:txBody>
          <a:bodyPr wrap="square" rtlCol="0" anchor="ctr"/>
          <a:lstStyle/>
          <a:p>
            <a:pPr algn="ctr" indent="0" marL="0">
              <a:buNone/>
            </a:pPr>
            <a:r>
              <a:rPr lang="en-US" sz="3200" b="1" dirty="0">
                <a:solidFill>
                  <a:srgbClr val="16BFEC"/>
                </a:solidFill>
                <a:latin typeface="Arial" pitchFamily="34" charset="0"/>
                <a:ea typeface="Arial" pitchFamily="34" charset="-122"/>
                <a:cs typeface="Arial" pitchFamily="34" charset="-120"/>
              </a:rPr>
              <a:t>Heart Walk Evidence Report</a:t>
            </a:r>
            <a:endParaRPr lang="en-US" sz="3200" dirty="0"/>
          </a:p>
        </p:txBody>
      </p:sp>
      <p:sp>
        <p:nvSpPr>
          <p:cNvPr id="3" name="Text 1"/>
          <p:cNvSpPr/>
          <p:nvPr/>
        </p:nvSpPr>
        <p:spPr>
          <a:xfrm>
            <a:off x="457200" y="2571750"/>
            <a:ext cx="8229600" cy="914400"/>
          </a:xfrm>
          <a:prstGeom prst="rect">
            <a:avLst/>
          </a:prstGeom>
          <a:noFill/>
          <a:ln/>
        </p:spPr>
        <p:txBody>
          <a:bodyPr wrap="square" rtlCol="0" anchor="ctr"/>
          <a:lstStyle/>
          <a:p>
            <a:pPr algn="ctr" indent="0" marL="0">
              <a:buNone/>
            </a:pPr>
            <a:r>
              <a:rPr lang="en-US" sz="2000" dirty="0">
                <a:solidFill>
                  <a:srgbClr val="1E1D21"/>
                </a:solidFill>
                <a:latin typeface="Arial" pitchFamily="34" charset="0"/>
                <a:ea typeface="Arial" pitchFamily="34" charset="-122"/>
                <a:cs typeface="Arial" pitchFamily="34" charset="-120"/>
              </a:rPr>
              <a:t>Generated 2/20/2026, 1:28:55 AM | 58 cited claims</a:t>
            </a:r>
            <a:endParaRPr lang="en-US" sz="20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314575"/>
            <a:ext cx="8229600" cy="1371600"/>
          </a:xfrm>
          <a:prstGeom prst="rect">
            <a:avLst/>
          </a:prstGeom>
          <a:noFill/>
          <a:ln/>
        </p:spPr>
        <p:txBody>
          <a:bodyPr wrap="square" rtlCol="0" anchor="ctr"/>
          <a:lstStyle/>
          <a:p>
            <a:pPr algn="ctr" indent="0" marL="0">
              <a:buNone/>
            </a:pPr>
            <a:r>
              <a:rPr lang="en-US" sz="3200" b="1" dirty="0">
                <a:solidFill>
                  <a:srgbClr val="16BFEC"/>
                </a:solidFill>
                <a:latin typeface="Arial" pitchFamily="34" charset="0"/>
                <a:ea typeface="Arial" pitchFamily="34" charset="-122"/>
                <a:cs typeface="Arial" pitchFamily="34" charset="-120"/>
              </a:rPr>
              <a:t>Executive Summary</a:t>
            </a:r>
            <a:endParaRPr lang="en-US" sz="32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Executive Summary</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This report synthesizes 58 evidence-backed insights from the loaded Reporter dataset.</a:t>
            </a:r>
            <a:endParaRPr lang="en-US" sz="16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Findings include 32 problem insights, 6 solution insights, and 20 mechanism insights.</a:t>
            </a:r>
            <a:endParaRPr lang="en-US" sz="16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Sentiment distribution is 15 negative, 28 neutral, and 15 positive.</a:t>
            </a:r>
            <a:endParaRPr lang="en-US" sz="16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Each claim below includes citation tokens tied to source semantic blocks.</a:t>
            </a:r>
            <a:endParaRPr lang="en-US" sz="16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314575"/>
            <a:ext cx="8229600" cy="1371600"/>
          </a:xfrm>
          <a:prstGeom prst="rect">
            <a:avLst/>
          </a:prstGeom>
          <a:noFill/>
          <a:ln/>
        </p:spPr>
        <p:txBody>
          <a:bodyPr wrap="square" rtlCol="0" anchor="ctr"/>
          <a:lstStyle/>
          <a:p>
            <a:pPr algn="ctr" indent="0" marL="0">
              <a:buNone/>
            </a:pPr>
            <a:r>
              <a:rPr lang="en-US" sz="3200" b="1" dirty="0">
                <a:solidFill>
                  <a:srgbClr val="16BFEC"/>
                </a:solidFill>
                <a:latin typeface="Arial" pitchFamily="34" charset="0"/>
                <a:ea typeface="Arial" pitchFamily="34" charset="-122"/>
                <a:cs typeface="Arial" pitchFamily="34" charset="-120"/>
              </a:rPr>
              <a:t>Problems</a:t>
            </a:r>
            <a:endParaRPr lang="en-US" sz="32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(1/11)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I382</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Political and organizational challenges can impact grant renewals and job security. [I382 | KB01.0013@00:07:41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KB01.0013 @00:07:41 -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"Unfortunately the grant was not renewed. just given everything going on politically couldn't even say equity at one And so, but I had saw the writing on the wall months..."</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I381</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ELT meetings are essential for team coordination but face challenges in organization. [I381 | LH01.0010@00:24:10; KG01.0002@00:00:00 | src:Lydia Hazel.md,Kenz Geschke.md]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LH01.0010 @00:24:10 - Lydia Hazel.md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so that's specifically for figuring out technical things, right? What about I didn't it's been perfect so far, but now let's think about in the process of organizing..."</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KG01.0002 @00:00:00 - Kenz Geschke.md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"Let me try let me try to close a few tabs. Sorry. Okay. I was just on a meeting and it was fine. So, we'll see how this goes. Otherwise I can always switch to my."</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I379</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There is a lack of standardized resources for ELT members, leading to the creation of custom materials. [I379 | LV01.0020@00:48:20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LV01.0020 @00:48:20 -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"having that be a necessity for our ELT members, I think is challenging. But I think it is a it is a good document and I do use it. So, I think that's great. there is the..."</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(2/11)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I375</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Young leaders face challenges in gaining trust and responsibility within their teams. [I375 | KG01.0008@00:25:37; LH01.0014@00:29:30 | src:Kenz Geschke.md,Lydia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KG01.0008 @00:25:37 -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I am reminded of that in my team. Not as of like you're young, but they do mention like most development directors are not my age. I am reminded like that I am a go-..."</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LH01.0014 @00:29:30 -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I was honestly surprised that he picked her because she's fairly young. She's not like one of the like highest seuite level people, but she's now is like the VP of t..."</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I374</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Cross-market collaboration is essential for effective volunteer engagement and prospecting. [I374 | KG01.0007@00:18:03; LV01.0018@00:34:02 | src:Kenz Geschke.md,Lauren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KG01.0007 @00:18:03 -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"the contacts that I have pathing to are from volunteers that have connections with my colleagues in my market in my office. I do like I have reached out to other markets..."</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LV01.0018 @00:34:02 - Lauren Verrill.md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"yep. They're essentially identifying their steering committee. So, within their own organization is going to be running, and outreach and communications. often there's a..."</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I373</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Prospecting for future ELT chairs is a continuous process, often involving companies already supporting Heart Walk. [I373 | LV01.0010@00:14:52; LV01.0007@00:09:42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LV01.0010 @00:14:52 -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"So, we have a running list of prospects. So, it's not something that we start from scratch every year. It's something that is, ongoing. That's typic. way back it was som..."</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LV01.0007 @00:09:42 - Lauren Verrill.md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"so it's always three years ahead. So, for example, in 2025 that we just wrapped, we have a constant prospect list chairs ahead and we actually we had confirmed our 2026..."</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(3/11)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I370</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Onboarding processes need improvement in technical training and resource accessibility. [I370 | KG01.0020@00:55:32; LH01.0007@00:17:23 | src:Kenz Geschke.md,Lydia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KG01.0020 @00:55:32 - Kenz Geschke.md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thought it was it was good. There were two different onboarding playlists they call it, which is a series of videos. One was through HR and one was through corporate 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LH01.0007 @00:17:23 -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that I think that would be helpful especially if it was built in with the like if that was like built into their responsibilities because I think that the hard p..."</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I367</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There is a need for clarity in roles and responsibilities within the Heart Walk leadership structure. [I367 | KG01.0018@00:53:26; KG01.0019@00:54:25 | src:Kenz Geschke.md]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KG01.0018 @00:53:26 -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just responsibility on on team member like co-workers. So I guess I am confused. Like I get everything as a team sport, right? Like we're all bringing in new lea..."</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KG01.0019 @00:54:25 - Kenz Geschke.md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"At boot camp, I found out it was mentioned that the responsibility of the chair is to be found and asked by the executive director and the vice president of development...."</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I366</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Resource allocation and political factors influence the Heart Walk's fundraising efforts. [I366 | KB01.0019@00:18:28; KB01.0035@00:51:22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KB01.0019 @00:18:28 -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so it does get a little bit more attention, a little bit more resources because for just for reference my my team, the Heartwalk team right now has brought in about..."</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KB01.0035 @00:51:22 - Katie Belusa.md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so, I think I went into it knowing that it might take me some time to fully grasp all this and that's okay. I think some people might get a little like overwhelmed o..."</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(4/11)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I359</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Healthcare systems face significant challenges impacting their participation in Heart Walk. [I359 | KB01.0022@00:21:03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KB01.0022 @00:21:03 -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to just certain I think certain industries too feel it even more so I think healthcare for example where to even begin my background is in public health with healthc..."</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I357</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There are challenges with Salesforce and meeting participation due to outdated data management practices. [I357 | KG01.0011@00:37:42 | src:Kenz Geschke.md]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KG01.0011 @00:37:42 -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"are for the chair meetings if you have a gap in your chair. Uhhuh. And as I mentioned we don't like best practices here at our market. So we still have in Salesforce tha..."</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I355</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Heart Walk campaign involves complex organizational processes that can be challenging for newcomers. [I355 | LH01.0004@00:07:06; CB01.0021@00:42:43 | src:Lydia Hazel.md,Caleb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LH01.0004 @00:07:06 - Lydia Hazel.md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would say are on a scale of 1 to five or 1 I would rate it if five is really easy I would probably rate it a two. It's definitely like coming in as a first year person..."</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CB01.0021 @00:42:43 - Caleb Bone.md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for me I know like I've been here long enough that I know where I can skim and like what where I need to focus on it."</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(5/11)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I354</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Annotated agendas are crucial for effective ELT meetings but are currently lacking. [I354 | LV01.0021@00:49:28; LV01.0022@00:50:42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LV01.0021 @00:49:28 -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"I'd be happy to share that. I think Yeah. Yeah. Yeah. and I think the other thing is maybe lacking and it's come up is for our ELT meetings there are suggested powerpoin..."</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LV01.0022 @00:50:42 - Lauren Verrill.md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"But I think some annotated agenda is incredibly is what my ask for. It's what they expect from their own staff in their lives. So, it's something we should be willing to..."</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I353</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Volunteer relationship management is challenging due to strict contact protocols. [I353 | KG01.0005@00:11:39 | src:Kenz Geschke.md]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KG01.0005 @00:11:39 -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"exactly. So, this is where I have come in. This is where I see one of my biggest roadblocks. And I'm not sure if this is my market or all markets, but our market, my mar..."</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I352</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current payment structure for multi-year gifts at AHA poses challenges for donor relations. [I352 | LV01.0008@00:09:42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LV01.0008 @00:09:42 -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"we can we can pivot it to say, "Hey, you have the time, the runway to really build within your organization." We have the talk track behind it, but the reality is it's n..."</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(6/11)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I351</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process for engaging and recruiting Executive Leadership Team (ELT) members needs improvement. [I351 | KG01.0010@00:35:05; LV01.0003@00:00:56 | src:Kenz Geschke.md,Lauren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KG01.0010 @00:35:05 -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the first one is I know we have consulting meetings and strategy meetings but they're not as beneficial as one would think as they there are not like they just b..."</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LV01.0003 @00:00:56 - Lauren Verrill.md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"there's a desire to get the executive leadership team process working more more smoothly effectively and easier. we hear that there's a there's a sense that it's hard to..."</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I350</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There is a disconnect between national best practices and local market implementation at Heart Walk. [I350 | KG01.0006@00:15:23; KG01.0009@00:26:38 | src:Kenz Geschke.md]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KG01.0006 @00:15:23 -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"I'm not sure there. So, the one challenging thing, and I was going to talk to Susie about this before my interview, is I recently learned I think our market doesn't foll..."</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KG01.0009 @00:26:38 - Kenz Geschke.md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feel like I had the opposite experience as most people. I was very underwhelmed in onboarding. I quickly caught on, learned everything and I felt like I was being stop..."</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I349</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Heart Walk market boards face challenges with board member engagement and commitment. [I349 | KB01.0017@00:14:56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KB01.0017 @00:14:56 -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I think we're we're that's getting better for sure. like our local the triangle our market is called the triangle market. So our local board Yes. So like our market..."</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(7/11)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I347</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Volunteer leaders often do not engage with provided materials, indicating a gap in communication effectiveness. [I347 | KG01.0015@00:50:39; CB01.0020@00:41:31 | src:Kenz Geschke.md,Caleb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KG01.0015 @00:50:39 - Kenz Geschke.md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"it's it's nice to have to quickly send it over to ELT members. I've sent it over. I've had meetings with prospective ELT and they don't read it. So, I' I've asked them l..."</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CB01.0020 @00:41:31 - Caleb Bone.md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"yeah, I think that's good. I do review that every time Susie sends that. I think just to make sure I haven't missed anything, that there's nothing no other, it is helpfu..."</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I346</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Effective communication is crucial for organizational processes, but there are challenges in accessing and understanding resources. [I346 | KB01.0029@00:39:03; KB01.0033@00:48:45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KB01.0029 @00:39:03 - Katie Belusa.md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so this is actually funny. I didn't know any of that stuff existed because I was mistakenly never put on the list serve and so for months and because I like I said I w..."</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KB01.0033 @00:48:45 - Katie Belusa.md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"most of the time And I would say most of the time I can find things that I'm looking for. I will say though, I see a lot in our we have like a national heartwalk teams c..."</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I343</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Salesforce is a valuable tool for organizing sponsorship pipelines and tracking data, but it has a learning curve and some functionality limitations. [I343 | LH01.0019@00:36:58; CB01.0017@00:39:03 | src:Lydia Hazel.md,Caleb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LH01.0019 @00:36:58 - Lydia Hazel.md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Salesforce now that I'm starting to get the hang of it has been helpful, but it's been definitely a learning curve. But my team is focused really heavily on bein..."</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CB01.0017 @00:39:03 - Caleb Bone.md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"sometimes, hard to find what you're looking for, but I think that's a little bit baked into SharePoint. say one more time. Yeah. So, Salesforce, I think it's getting the..."</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(8/11)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I342</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use of planning documents and templates is inconsistent. [I342 | CB01.0016@00:37:37; LH01.0023@00:43:40 | src:Caleb Bone.md,Lydia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CB01.0016 @00:37:37 - Caleb Bone.md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"cheer cheer orientation stuff is really helpful. the we do use the company planner and the coach planner a lot. I really like the updated versions that are slimmed down...."</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LH01.0023 @00:43:40 -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"But yeah I would say overall the like practice of using of having like all the templates in PowerPoint is really annoying."</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I341</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Finding specific materials on SharePoint is a common challenge. [I341 | LV01.0023@00:51:33; KB01.0032@00:46:06 | src:Lauren Verrill.md,Katie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LV01.0023 @00:51:33 -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I think that's what I'm Yeah. Absolutely. and I think overall there have been there's a brand new a brand new toolkit for executives with heart which is great. And I..."</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KB01.0032 @00:46:06 - Katie Belusa.md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part of the issue with SharePoint is that like everybody's work gets like uploaded to it. Even if you're just working on some little thing and then it's now sudd..."</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I340</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SharePoint is widely used but often seen as cumbersome and inefficient. [I340 | CB01.0018@00:40:26; KB01.0032@00:46:06 | src:Caleb Bone.md,Katie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CB01.0018 @00:40:26 - Caleb Bone.md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would u my understanding is they'll keep tweaking it and my experience is that it's like share like shareepoint it's a bmoth monster."</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KB01.0032 @00:46:06 - Katie Belusa.md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part of the issue with SharePoint is that like everybody's work gets like uploaded to it. Even if you're just working on some little thing and then it's now sudd..."</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(9/11)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I339</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Effective communication and resource sharing are crucial for the success of Heart Walk teams. [I339 | LH01.0006@00:14:24; KG01.0012@00:38:56 | src:Lydia Hazel.md,Kenz Geschke.md]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LH01.0006 @00:14:24 - Lydia Hazel.md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feel like having I think it might have been a at least for me I don't know if I necessarily would have utilized that as much because me and my teammate have always had..."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KG01.0012 @00:38:56 - Kenz Geschke.md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don't know. I think I think we're working really hard. We're already like our numbers are already above double where they were last year. So we are projected to most l..."</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I338</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Economic uncertainty and lack of communication hinder corporate sponsorship for Heart Walk. [I338 | KB01.0020@00:18:28; KB01.0021@00:20:14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KB01.0020 @00:18:28 -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"to be frank I it's something I'm a little disappointed in the heart association with the lack of in my in my on my team it will not be discussed which is interesting bec..."</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KB01.0021 @00:20:14 - Katie Belusa.md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"They don't see it if it's not an immediate way to make money. It's harder for people to want to sign up and say yes. I think there's always going to be that. But I just..."</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I336</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Recruitment challenges include finding enthusiastic and committed ELT members. [I336 | KG01.0003@00:02:50; LH01.0016@00:31:28 | src:Kenz Geschke.md,Lydia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KG01.0003 @00:02:50 -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"So, I started on July 15th, so I think that is a little bit over seven months now. I started so I'm very very new. I started my campaign is in the fall. So, I came in on..."</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LH01.0016 @00:31:28 -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feel like so I'll use since I haven't done as much with the ELT, I'll use like an executive champion at a hospital for an example. So like I've had folks like that. So..."</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(10/11)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I335</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success of ELT members is often linked to their business development skills and motivation. [I335 | LV01.0024@00:56:31; LH01.0016@00:31:28 | src:Lauren Verrill.md,Lydia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LV01.0024 @00:56:31 -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so anything we can do to continue to work on that and find ways to the staff to approach maybe leadership volunteers in a different way. I don't know what the answer..."</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LH01.0016 @00:31:28 -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feel like so I'll use since I haven't done as much with the ELT, I'll use like an executive champion at a hospital for an example. So like I've had folks like that. So..."</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I334</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Recruitment for the Executive Leadership Team (ELT) involves strategic networking and leveraging existing relationships. [I334 | CB01.0010@00:26:08; LH01.0016@00:31:28 | src:Caleb Bone.md,Lydia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CB01.0010 @00:26:08 - Caleb Bone.md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"sometimes we have somebody that's involved already that we can just get a volunteer involved to say hey you all are participating. we want you to consider joining the EL..."</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LH01.0016 @00:31:28 -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feel like so I'll use since I haven't done as much with the ELT, I'll use like an executive champion at a hospital for an example. So like I've had folks like that. So..."</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I332</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Securing a chair for the ELT involves significant financial and time commitments, often requiring a year-long recruitment process. [I332 | LV01.0006@00:05:23; LV01.0009@00:11:35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LV01.0006 @00:05:23 -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"absolutely. So, obviously the biggest component of the ELT is our chair position. and that's always a challenge. I think for our market here, it's a $125,000 corporate c..."</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LV01.0009 @00:11:35 - Lauren Verrill.md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"but that is what typically holds us up a little bit with the chair. And then I work with the chair throughout the year. where we have four quarterly meetings which typic..."</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Problems (11/11)</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I331</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Recruitment for the Executive Leadership Team (ELT) is challenging due to high turnover and the need for strategic volunteer connectors. [I331 | KB01.0015@00:10:32; KB01.0018@00:17:36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KB01.0015 @00:10:32 -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"Do you mean specifically for ELT? in general it's Yeah, it is hard to say like at this point we start here. I think leadership especially in my market leadership is it's..."</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KB01.0018 @00:17:36 - Katie Belusa.md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so we really need to have those volunteer connectors be the ones that are introducing us because otherwise I'm finding things not always, I did get a CEO to respond..."</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I326</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Challenges in recruiting ELT members include finding suitable candidates and setting clear expectations. [I326 | CB01.0007@00:17:27; CB01.0011@00:27:15 | src:Caleb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CB01.0007 @00:17:27 - Caleb Bone.md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"ideally that is not, what what is happening. ideally there's some other reason there but sometimes that's what happens. every once so like that is a challenge that we ru..."</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CB01.0011 @00:27:15 - Caleb Bone.md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"can you be more specific? Like what I'm I'm thinking there because like I would say like a four somewhere in that range for me. I've been here seven years and so I think..."</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314575"/>
            <a:ext cx="8229600" cy="1371600"/>
          </a:xfrm>
          <a:prstGeom prst="rect">
            <a:avLst/>
          </a:prstGeom>
          <a:noFill/>
          <a:ln/>
        </p:spPr>
        <p:txBody>
          <a:bodyPr wrap="square" rtlCol="0" anchor="ctr"/>
          <a:lstStyle/>
          <a:p>
            <a:pPr algn="ctr" indent="0" marL="0">
              <a:buNone/>
            </a:pPr>
            <a:r>
              <a:rPr lang="en-US" sz="3200" b="1" dirty="0">
                <a:solidFill>
                  <a:srgbClr val="16BFEC"/>
                </a:solidFill>
                <a:latin typeface="Arial" pitchFamily="34" charset="0"/>
                <a:ea typeface="Arial" pitchFamily="34" charset="-122"/>
                <a:cs typeface="Arial" pitchFamily="34" charset="-120"/>
              </a:rPr>
              <a:t>Solutions</a:t>
            </a:r>
            <a:endParaRPr lang="en-US" sz="32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Solutions (1/2)</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I377</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Engaging CEOs in Heart Walk leadership roles can be more effective by focusing on the mission rather than financial targets. [I377 | KG01.0016@00:51:36 | src:Kenz Geschke.md]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KG01.0016 @00:51:36 -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"that's a good question. I think that would be you don't want to you don't want to give them more more work, more reading material, but I do think if you say like what th..."</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I369</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Prospecting for new ELT members leverages existing networks and new executives. [I369 | KG01.0004@00:09:27; LH01.0011@00:25:09 | src:Kenz Geschke.md,Lydia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KG01.0004 @00:09:27 -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"that's what our ELT looks like. our new prospect list was built using LinkedIn. So we took our current executives or current ELT members and we built the list around the..."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LH01.0011 @00:25:09 -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"so it's very much a like utilizing our volunteers. So, our chair for this year was from like one of our children's hospitals at Multicare and they were volunttoled by th..."</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I365</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Heart Walk team employs creative and persistent strategies to engage corporate leaders and volunteers. [I365 | KB01.0024@00:25:49; KB01.0025@00:27:51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KB01.0024 @00:25:49 -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that's how they I even got this job to begin with. They didn't know if I could sell anything because she could talk to people. yeah but guess what? I'm good at I..."</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KB01.0025 @00:27:51 - Katie Belusa.md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"I'm very good at that. but I will also try to be creative with with new ways. Like an example of trying to be creative is one of the CEOs we work with, he's a legacy cha..."</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Solutions (2/2)</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I345</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Effective use of Salesforce requires collaboration and ongoing training among team members. [I345 | LH01.0021@00:38:57; LH01.0020@00:37:59 | src:Lydia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LH01.0021 @00:38:57 - Lydia Hazel.md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so that's another thing that I'm like I don't know if other markets are like as like I think it's probably very all over the board. but I think that the more that al..."</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LH01.0020 @00:37:59 -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like how it organizes our pipeline and makes it so that like you can see like, okay, here's all the asks that I have out and where they're at in the pi pipeline like a..."</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I337</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Heart Walk campaign effectively uses storytelling and personal experiences to engage communities and promote CPR training. [I337 | CB01.0015@00:34:33; CB01.0014@00:33:15 | src:Caleb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CB01.0015 @00:34:33 - Caleb Bone.md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they've national has done a good job I think over the last guess year and a half at this point with content and like supporting resources there. I think really w..."</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CB01.0014 @00:33:15 - Caleb Bone.md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like our the not like the mission statement, but like the stated purpose of like Cartwalk and like what we're trying to do. I do feel like one of the things that we'..."</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I327</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Volunteer connectors and personal connections are crucial for successful ELT recruitment. [I327 | CB01.0009@00:21:00; CB01.0008@00:19:47 | src:Caleb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CB01.0009 @00:21:00 - Caleb Bone.md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"so one one other thing I will say on like recruitment too, like business relationships are another big one like where we're able to get people in and those tend be the o..."</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CB01.0008 @00:19:47 - Caleb Bone.md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"other reasons are personal connection. that's one of the most common. somebody in leadership that has poll at their company, that has a personal connection. We talk to t..."</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314575"/>
            <a:ext cx="8229600" cy="1371600"/>
          </a:xfrm>
          <a:prstGeom prst="rect">
            <a:avLst/>
          </a:prstGeom>
          <a:noFill/>
          <a:ln/>
        </p:spPr>
        <p:txBody>
          <a:bodyPr wrap="square" rtlCol="0" anchor="ctr"/>
          <a:lstStyle/>
          <a:p>
            <a:pPr algn="ctr" indent="0" marL="0">
              <a:buNone/>
            </a:pPr>
            <a:r>
              <a:rPr lang="en-US" sz="3200" b="1" dirty="0">
                <a:solidFill>
                  <a:srgbClr val="16BFEC"/>
                </a:solidFill>
                <a:latin typeface="Arial" pitchFamily="34" charset="0"/>
                <a:ea typeface="Arial" pitchFamily="34" charset="-122"/>
                <a:cs typeface="Arial" pitchFamily="34" charset="-120"/>
              </a:rPr>
              <a:t>Mechanisms</a:t>
            </a:r>
            <a:endParaRPr lang="en-US" sz="32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Mechanisms (1/7)</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I380</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Heart Walk campaign involves complex roles and responsibilities, with leadership managing multiple events and teams. [I380 | LV01.0004@00:02:05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LV01.0004 @00:02:05 -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"absolutely. So, I've been with American Heart Association 10 and a half years. It'll be 11 years in May. and I started I've been in the Heartwalk space since I started...."</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I378</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ELT prospecting process is challenging, with a focus on securing new business and sponsorships. [I378 | LV01.0019@00:36:27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LV01.0019 @00:36:27 -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then the breakfast happens and then it's all about postevent followup. so following up with folks to close close the yeses hopefully that we get in the room. and con..."</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I376</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Effective leadership development involves recognizing potential and providing visibility and experience. [I376 | LH01.0015@00:30:30; LH01.0014@00:29:30 | src:Lydia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LH01.0015 @00:30:30 - Lydia Hazel.md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so I think I think Bill saw that potential in her and was like and wanted to cultivate her leadership and that she's gonna be incredibly successful and already is. l..."</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LH01.0014 @00:29:30 -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I was honestly surprised that he picked her because she's fairly young. She's not like one of the like highest seuite level people, but she's now is like the VP of t..."</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Mechanisms (2/7)</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I372</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Heart Walk team is structured to manage corporate relationships and fundraising initiatives effectively. [I372 | KB01.0014@00:08:29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KB01.0014 @00:08:29 -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so that's the role that I have been through Heartwalk since last June. I love it. I am having a lot of fun most days. I am on the Heartwalk team. I am one of two Hea..."</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I371</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Volunteer leadership plays a crucial role in the success of Heart Walk, with ELT members expected to bring in new company relationships and sponsorships. [I371 | KG01.0014@00:45:36; LH01.0013@00:28:24 | src:Kenz Geschke.md,Lydia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KG01.0014 @00:45:36 - Kenz Geschke.md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"So, both of them are actually survivors and CEOs. So, they have the connections and they have the mission. They each brought in new companies and their company is a spon..."</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LH01.0013 @00:28:24 - Lydia Hazel.md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think that with with our situation like Multicare has very much like been the leader in Washington state in years past of like the highest fundraising, the highest eng..."</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I368</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Effective use of GAP meetings helps organize leadership and accountability. [I368 | KB01.0028@00:36:22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KB01.0028 @00:36:22 -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"we talk to our consultant maybe once a week. Sometimes it's like a couple times a month. It really depends on the season. Like right now, we're not meeting with her quit..."</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Mechanisms (3/7)</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I364</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Heart Walk's corporate sponsorship outreach is generally successful due to thorough preparation. [I364 | LV01.0012@00:20:56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LV01.0012 @00:20:56 -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"and I would say on average we make I would say usually the first ask we make is a yes. There have been years where there has been a no off the bat or a no for this year..."</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I363</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Heart Walk's recruitment and engagement model relies heavily on learning by doing, which can be challenging for those without prior experience. [I363 | LH01.0005@00:09:22 | src:Lydia Hazel.md]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LH01.0005 @00:09:22 - Lydia Hazel.md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would say it's very much a model of like you learn by doing which in some ways can be good because it does like reiter like it is an effective way to learn also I feel..."</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I362</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Katie Belusa transitioned from a health equity grant role to a corporate health equity consulting role, highlighting a shift in focus within the organization. [I362 | KB01.0012@00:05:55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KB01.0012 @00:05:55 - Katie Belusa.md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"Is Yeah. Thank you. Yeah. Thanks for saying that. I appreciate it. Happy to be here. I started in August 2023. Yes. I started them, but I was in a different role. my cur..."</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Mechanisms (4/7)</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I361</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Executive Leadership Team (ELT) is a focal point for discussions, indicating its importance in Heart Walk's organizational structure. [I361 | LV01.0001@00:00:00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LV01.0001 @00:00:00 -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"Just to clarify, so we're going to be focusing specifically on the ELT for this conversation, the executive leadership team, or are we or are we talking about Heartwalk..."</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I360</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role of consultants in Heart Walk includes managing regional events and supporting market-specific needs. [I360 | KB01.0027@00:34:08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KB01.0027 @00:34:08 -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"since the second I started I have found our consultants I particularly work with one consultant who I just like adore. cuz she's so helpful and actually gives like real..."</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I358</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Consultants are a valuable resource for Heart Walk's development efforts. [I358 | KB01.0027@00:34:08; KB01.0026@00:33:04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KB01.0027 @00:34:08 - Katie Belusa.md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"since the second I started I have found our consultants I particularly work with one consultant who I just like adore. cuz she's so helpful and actually gives like real..."</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KB01.0026 @00:33:04 - Katie Belusa.md (rank 1,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"when I think of tools or I would say consultants I don't know I don't know if they're considered that's a resource to me. I think consultants are very helpful."</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Mechanisms (5/7)</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I356</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Recruitment and engagement of ELT members require careful preparation and strategic communication. [I356 | LV01.0014@00:24:28; LV01.0017@00:32:47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LV01.0014 @00:24:28 -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"we've we've gotten really creative. It just depends on who makes the most sense. I would say maybe earlier in my career that our team was a little bit younger. and I thi..."</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LV01.0017 @00:32:47 - Lauren Verrill.md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"but let's say it's now right. say the campaign is over and we would have the so the e the chair would be oriented then they would have they would host their first ELT me..."</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I348</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Training and onboarding processes are extensive but can be overwhelming for new staff. [I348 | KB01.0034@00:48:45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KB01.0034 @00:48:45 - Katie Belusa.md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"Even though, Susie will answer in like a heartbeat. I'm like, does this lady sleep? like send something but and so I appreciate that's there but I there are many times t..."</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I344</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SharePoint is seen as less user-friendly compared to other tools like Google Drive, but it is still used for organizing Heart Walk resources. [I344 | KB01.0030@00:40:09; KB01.0031@00:43:27 | src:Katie Belusa.md]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KB01.0030 @00:40:09 - Katie Belusa.md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the beat I find really helpful because it's not a ton of sometimes there's a lot of information in there, but I appreciate these little like quick things or links like..."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KB01.0031 @00:43:27 - Katie Belusa.md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would have never been able to know that we not had Salesforce. so I find that helpful. I also find Salesforce really helpful because I can pull reports. I can pull and..."</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Mechanisms (6/7)</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I333</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Volunteer connectors play a crucial role in recruiting ELT members, often requiring preparation and strategic communication. [I333 | LV01.0011@00:18:01; LV01.0013@00:22:02 | src:Lauren Verrill.md]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LV01.0011 @00:18:01 - Lauren Verrill.md (rank 3, direct_quote)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"Yep. typically depends on who holds the relationship. the ask will it's a lot of coordination because often the ask will come from a volunteer leader within our organiza..."</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LV01.0013 @00:22:02 - Lauren Verrill.md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"I my best guess it could be a little bit more in terms of the volunteer. but typically Correct. Yes. Always. It's it would never be it would never be like a manager. It..."</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I330</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ELT meetings facilitate recruitment and leadership pipeline development. [I330 | CB01.0005@00:13:39 | src:Caleb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CB01.0005 @00:13:39 - Caleb Bone.md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"mid-Marchch is that one. Then miday in August are the next two pre-event. Our event is tenatively scheduled for September 27th. and right now we have a postevent wrap-up..."</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I329</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ELT meetings are used to introduce team members and outline campaign goals. [I329 | CB01.0005@00:13:39 | src:Caleb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CB01.0005 @00:13:39 - Caleb Bone.md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"mid-Marchch is that one. Then miday in August are the next two pre-event. Our event is tenatively scheduled for September 27th. and right now we have a postevent wrap-up..."</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365760"/>
            <a:ext cx="8229600" cy="914400"/>
          </a:xfrm>
          <a:prstGeom prst="rect">
            <a:avLst/>
          </a:prstGeom>
          <a:noFill/>
          <a:ln/>
        </p:spPr>
        <p:txBody>
          <a:bodyPr wrap="square" rtlCol="0" anchor="ctr"/>
          <a:lstStyle/>
          <a:p>
            <a:pPr indent="0" marL="0">
              <a:buNone/>
            </a:pPr>
            <a:r>
              <a:rPr lang="en-US" sz="2800" b="1" dirty="0">
                <a:solidFill>
                  <a:srgbClr val="16BFEC"/>
                </a:solidFill>
                <a:latin typeface="Arial" pitchFamily="34" charset="0"/>
                <a:ea typeface="Arial" pitchFamily="34" charset="-122"/>
                <a:cs typeface="Arial" pitchFamily="34" charset="-120"/>
              </a:rPr>
              <a:t>Mechanisms (7/7)</a:t>
            </a:r>
            <a:endParaRPr lang="en-US" sz="2800" dirty="0"/>
          </a:p>
        </p:txBody>
      </p:sp>
      <p:sp>
        <p:nvSpPr>
          <p:cNvPr id="3" name="Text 1"/>
          <p:cNvSpPr/>
          <p:nvPr/>
        </p:nvSpPr>
        <p:spPr>
          <a:xfrm>
            <a:off x="457200" y="1645920"/>
            <a:ext cx="8229600" cy="4114800"/>
          </a:xfrm>
          <a:prstGeom prst="rect">
            <a:avLst/>
          </a:prstGeom>
          <a:noFill/>
          <a:ln/>
        </p:spPr>
        <p:txBody>
          <a:bodyPr wrap="square" rtlCol="0" anchor="t"/>
          <a:lstStyle/>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I328</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The ELT meetings are strategically scheduled throughout the year to align with campaign milestones and recruitment efforts. [I328 | CB01.0004@00:10:47; CB01.0005@00:13:39 | src:Caleb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CB01.0004 @00:10:47 - Caleb Bone.md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"like with with the ELT. yeah there's there's there's some best practice stuff there. The sense that I get is that every market has like a little bit of a twist on it. an..."</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CB01.0005 @00:13:39 - Caleb Bone.md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"mid-Marchch is that one. Then miday in August are the next two pre-event. Our event is tenatively scheduled for September 27th. and right now we have a postevent wrap-up..."</a:t>
            </a:r>
            <a:endParaRPr lang="en-US" sz="1800" dirty="0"/>
          </a:p>
          <a:p>
            <a:pPr indent="0" marL="0">
              <a:spcBef>
                <a:spcPts val="1000"/>
              </a:spcBef>
              <a:buNone/>
            </a:pPr>
            <a:r>
              <a:rPr lang="en-US" sz="1800" b="1" dirty="0">
                <a:solidFill>
                  <a:srgbClr val="1E1D21"/>
                </a:solidFill>
                <a:latin typeface="Arial" pitchFamily="34" charset="0"/>
                <a:ea typeface="Arial" pitchFamily="34" charset="-122"/>
                <a:cs typeface="Arial" pitchFamily="34" charset="-120"/>
              </a:rPr>
              <a:t>Insight I325</a:t>
            </a:r>
            <a:endParaRPr lang="en-US" sz="1800" dirty="0"/>
          </a:p>
          <a:p>
            <a:pPr indent="0" marL="0">
              <a:spcBef>
                <a:spcPts val="500"/>
              </a:spcBef>
              <a:buNone/>
            </a:pPr>
            <a:r>
              <a:rPr lang="en-US" sz="1600" dirty="0">
                <a:solidFill>
                  <a:srgbClr val="1E1D21"/>
                </a:solidFill>
                <a:latin typeface="Arial" pitchFamily="34" charset="0"/>
                <a:ea typeface="Arial" pitchFamily="34" charset="-122"/>
                <a:cs typeface="Arial" pitchFamily="34" charset="-120"/>
              </a:rPr>
              <a:t>Recruitment for the Executive Leadership Team (ELT) involves strategic planning and early engagement. [I325 | CB01.0002@00:00:00; CB01.0003@00:06:19 | src:Caleb Bone.md]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CB01.0002 @00:00:00 - Caleb Bone.md (rank 3,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"you're breaking up a little bit. I no worries. I don't know. My internet might be a little funny. You were breaking up some in there. I caught everything that you said,..."</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Evidence: CB01.0003 @00:06:19 - Caleb Bone.md (rank 2, evidence)</a:t>
            </a:r>
            <a:endParaRPr lang="en-US" sz="1800" dirty="0"/>
          </a:p>
          <a:p>
            <a:pPr marL="342900" indent="-342900">
              <a:spcBef>
                <a:spcPts val="500"/>
              </a:spcBef>
              <a:buSzPct val="100000"/>
              <a:buChar char="•"/>
            </a:pPr>
            <a:r>
              <a:rPr lang="en-US" sz="1600" dirty="0">
                <a:solidFill>
                  <a:srgbClr val="1E1D21"/>
                </a:solidFill>
                <a:latin typeface="Arial" pitchFamily="34" charset="0"/>
                <a:ea typeface="Arial" pitchFamily="34" charset="-122"/>
                <a:cs typeface="Arial" pitchFamily="34" charset="-120"/>
              </a:rPr>
              <a:t>Quote: "for us we have had a pretty strong contingent of like legacy folks. and so there's like several organizations that have been represented for a long time or we like to ha..."</a:t>
            </a:r>
            <a:endParaRPr lang="en-US" sz="1800" dirty="0"/>
          </a:p>
        </p:txBody>
      </p:sp>
      <p:sp>
        <p:nvSpPr>
          <p:cNvPr id="25" name="Slide Number Placeholder 0"/>
          <p:cNvSpPr>
            <a:spLocks noGrp="1"/>
          </p:cNvSpPr>
          <p:nvPr>
            <p:ph type="sldNum" sz="quarter" idx="4294967295"/>
          </p:nvPr>
        </p:nvSpPr>
        <p:spPr>
          <a:xfrm>
            <a:off x="8686800" y="462915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99999"/>
                </a:solidFill>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2026-02-20T07:32:23Z</dcterms:created>
  <dcterms:modified xsi:type="dcterms:W3CDTF">2026-02-20T07:32:23Z</dcterms:modified>
</cp:coreProperties>
</file>