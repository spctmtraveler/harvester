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2571750"/>
            <a:ext cx="5486400" cy="4114800"/>
          </a:xfrm>
          <a:prstGeom prst="ellipse">
            <a:avLst/>
          </a:prstGeom>
          <a:solidFill>
            <a:srgbClr val="FF5C5C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0022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B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 Walk Staff Interview Research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57175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for: AHA National Leadership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E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by: Live Neuron Labs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E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Date: February 2026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E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Six in-depth interviews across five markets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2571750"/>
            <a:ext cx="5486400" cy="4114800"/>
          </a:xfrm>
          <a:prstGeom prst="ellipse">
            <a:avLst/>
          </a:prstGeom>
          <a:solidFill>
            <a:srgbClr val="FF5C5C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14575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B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Leadership Team (ELT) Process, Tools &amp; Staff Experience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B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11247120" cy="4297680"/>
          </a:xfrm>
          <a:prstGeom prst="roundRect">
            <a:avLst/>
          </a:prstGeom>
          <a:solidFill>
            <a:srgbClr val="EFE0AE"/>
          </a:solidFill>
          <a:ln w="12700">
            <a:solidFill>
              <a:srgbClr val="E7D4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10881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25" dirty="0">
                <a:solidFill>
                  <a:srgbClr val="333333"/>
                </a:solidFill>
              </a:rPr>
              <a:t>The campaign is strong. The people are committed. The infrastructure is not keeping pace with the complexity.</a:t>
            </a:r>
            <a:endParaRPr lang="en-US" sz="2625" dirty="0"/>
          </a:p>
        </p:txBody>
      </p:sp>
      <p:sp>
        <p:nvSpPr>
          <p:cNvPr id="5" name="Text 3"/>
          <p:cNvSpPr/>
          <p:nvPr/>
        </p:nvSpPr>
        <p:spPr>
          <a:xfrm>
            <a:off x="640080" y="5532120"/>
            <a:ext cx="10881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125" b="1" dirty="0">
                <a:solidFill>
                  <a:srgbClr val="1E1D21"/>
                </a:solidFill>
              </a:rPr>
              <a:t>Chair</a:t>
            </a:r>
            <a:endParaRPr lang="en-US" sz="212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B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Major Realities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ELT Prospecting Is the Hardest Problem in the Campaign</a:t>
            </a:r>
            <a:endParaRPr lang="en-US" sz="16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Chair Recruitment Works — But Is Structurally Fragile</a:t>
            </a:r>
            <a:endParaRPr lang="en-US" sz="16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Exist — But Are Hard to Access, Use, or Trust</a:t>
            </a:r>
            <a:endParaRPr lang="en-US" sz="16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Are Creating Solutions Nationally — Without Being Asked</a:t>
            </a:r>
            <a:endParaRPr lang="en-US" sz="16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External Environment Has Shifted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B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6B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Major Realities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5652089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&lt;li style="font-family: &amp;quot;Source Sans 3&amp;quot;, sans-serif; font-size: 24px; color: rgb(30, 29, 33);"&gt;ELT Prospecting Is the Hardest Problem in the Campaign&lt;li style="font-family: &amp;quot;Source Sans 3&amp;quot;, sans-serif; font-size: 24px; color: rgb(30, 29, 33);"&gt;Chair Recruitment Works — But Is Structurally Fragile&lt;li style="font-family: &amp;quot;Source Sans 3&amp;quot;, sans-serif; font-size: 24px; color: rgb(30, 29, 33);"&gt;Tools Exist — But Are Hard to Access, Use, or Trust&lt;li style="font-family: &amp;quot;Source Sans 3&amp;quot;, sans-serif; font-size: 24px; color: rgb(30, 29, 33);"&gt;Staff Are Creating Solutions Nationally — Without Being Asked&lt;li style="font-family: &amp;quot;Source Sans 3&amp;quot;, sans-serif; font-size: 24px; color: rgb(30, 29, 33);"&gt;The External Environment Has Shifted</a:t>
            </a:r>
            <a:endParaRPr lang="en-US" sz="2100" dirty="0"/>
          </a:p>
        </p:txBody>
      </p:sp>
      <p:pic>
        <p:nvPicPr>
          <p:cNvPr id="4" name="Image 0" descr="https://happydo.xyz/harvester/uploads/images/b0e52199-25c6-4b2a-aa2a-d9befcf4673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73881" y="1645920"/>
            <a:ext cx="5430439" cy="4297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2571750"/>
            <a:ext cx="5486400" cy="4114800"/>
          </a:xfrm>
          <a:prstGeom prst="ellipse">
            <a:avLst/>
          </a:prstGeom>
          <a:solidFill>
            <a:srgbClr val="FF5C5C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14575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B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Reality: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16B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 Walk Is a Relationship Engine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B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 Engine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recruit and coach volunteer leaders.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Volunteer leaders recruit companies.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 mobilize teams.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recruit walkers.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Walkers are expected to fundraise.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B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Breakdown Points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11247120" cy="4297680"/>
          </a:xfrm>
          <a:prstGeom prst="roundRect">
            <a:avLst/>
          </a:prstGeom>
          <a:solidFill>
            <a:srgbClr val="EFE0AE"/>
          </a:solidFill>
          <a:ln w="12700">
            <a:solidFill>
              <a:srgbClr val="E7D4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10881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333333"/>
                </a:solidFill>
              </a:rPr>
              <a:t>ELT Member → New Corporate Commitment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40080" y="5532120"/>
            <a:ext cx="10881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1D21"/>
                </a:solidFill>
              </a:rPr>
              <a:t>Chair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2571750"/>
            <a:ext cx="5486400" cy="4114800"/>
          </a:xfrm>
          <a:prstGeom prst="ellipse">
            <a:avLst/>
          </a:prstGeom>
          <a:solidFill>
            <a:srgbClr val="FF5C5C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14575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B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Chair Recruitment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B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What’s Working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5895905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prepare connectors with:</a:t>
            </a:r>
            <a:endParaRPr lang="en-US" sz="21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giving</a:t>
            </a:r>
            <a:endParaRPr lang="en-US" sz="21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data</a:t>
            </a:r>
            <a:endParaRPr lang="en-US" sz="21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language</a:t>
            </a:r>
            <a:endParaRPr lang="en-US" sz="21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framing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517697" y="1645920"/>
            <a:ext cx="5186623" cy="4297680"/>
          </a:xfrm>
          <a:prstGeom prst="roundRect">
            <a:avLst/>
          </a:prstGeom>
          <a:solidFill>
            <a:srgbClr val="EFE0AE"/>
          </a:solidFill>
          <a:ln w="12700">
            <a:solidFill>
              <a:srgbClr val="E7D49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00577" y="1828800"/>
            <a:ext cx="4820863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333333"/>
                </a:solidFill>
              </a:rPr>
              <a:t>"We rarely get a flat no. The vetting happens before the ask."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700577" y="5532120"/>
            <a:ext cx="48208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1D21"/>
                </a:solidFill>
              </a:rPr>
              <a:t>
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B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Markets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1-year confirmed pipeline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2-year projection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Occasional 3-year creative pitches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Multi-year pitching expands opportunity windows.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B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Breaks Down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609539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 Prospect Pools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markets made “countless asks” to the same 5–8 executives — all declined.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717182" y="1645920"/>
            <a:ext cx="4987138" cy="4297680"/>
          </a:xfrm>
          <a:prstGeom prst="roundRect">
            <a:avLst/>
          </a:prstGeom>
          <a:solidFill>
            <a:srgbClr val="EFE0AE"/>
          </a:solidFill>
          <a:ln w="12700">
            <a:solidFill>
              <a:srgbClr val="E7D49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00062" y="1828800"/>
            <a:ext cx="4621378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333333"/>
                </a:solidFill>
              </a:rPr>
              <a:t>Not donor-friendly.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900062" y="5532120"/>
            <a:ext cx="462137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1D21"/>
                </a:solidFill>
              </a:rPr>
              <a:t>Policy Friction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B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Responsibility Misalignment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some markets, the DD owns it entirely — without executive-level peer leverage.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B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Aha Insight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Executive-level peers recruit peers.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timing supports long-range strategy.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Markets have mature pipelines.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breaks when: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Responsibility drops too low.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reduces flexibility.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 pools are shallow.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2571750"/>
            <a:ext cx="5486400" cy="4114800"/>
          </a:xfrm>
          <a:prstGeom prst="ellipse">
            <a:avLst/>
          </a:prstGeom>
          <a:solidFill>
            <a:srgbClr val="FF5C5C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14575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B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ELT Recruitment &amp; Composition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B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Predictable Pattern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seats (3–5 annually): bottleneck.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barriers: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Corporate Sponsorship Requirement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Timeline Compression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Prospect Ownership Constraints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B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vs Quantity Shift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11247120" cy="4297680"/>
          </a:xfrm>
          <a:prstGeom prst="roundRect">
            <a:avLst/>
          </a:prstGeom>
          <a:solidFill>
            <a:srgbClr val="EFE0AE"/>
          </a:solidFill>
          <a:ln w="12700">
            <a:solidFill>
              <a:srgbClr val="E7D4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10881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333333"/>
                </a:solidFill>
              </a:rPr>
              <a:t>Five engaged members are better than fifteen passive ones.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40080" y="5532120"/>
            <a:ext cx="10881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1D21"/>
                </a:solidFill>
              </a:rPr>
              <a:t>Chair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2571750"/>
            <a:ext cx="5486400" cy="4114800"/>
          </a:xfrm>
          <a:prstGeom prst="ellipse">
            <a:avLst/>
          </a:prstGeom>
          <a:solidFill>
            <a:srgbClr val="FF5C5C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14575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B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ELT Engagement &amp; Activation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B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Breakdown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11247120" cy="4297680"/>
          </a:xfrm>
          <a:prstGeom prst="roundRect">
            <a:avLst/>
          </a:prstGeom>
          <a:solidFill>
            <a:srgbClr val="EFE0AE"/>
          </a:solidFill>
          <a:ln w="12700">
            <a:solidFill>
              <a:srgbClr val="E7D4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10881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333333"/>
                </a:solidFill>
              </a:rPr>
              <a:t>ELT members do the first ask. They rarely do the follow-up.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40080" y="5532120"/>
            <a:ext cx="10881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1D21"/>
                </a:solidFill>
              </a:rPr>
              <a:t>Chair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B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Headwinds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budget tightening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funding cuts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Political climate anxiety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bandwidth depletion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Generational turnover in donors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B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Accountability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Recognition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Behaviorally, this aligns with: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eGains (status, recognition)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social eCosts (fear of embarrassment)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B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Aha Insight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 behavior design problem.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campaign currently relies on: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initiative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Goodwill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Volunteer motivation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systematically designing: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follow-up friction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visibility of progress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Stronger social reinforcement loops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2571750"/>
            <a:ext cx="5486400" cy="4114800"/>
          </a:xfrm>
          <a:prstGeom prst="ellipse">
            <a:avLst/>
          </a:prstGeom>
          <a:solidFill>
            <a:srgbClr val="FF5C5C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14575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B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Tools &amp; Infrastructure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B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SharePoint: Universal Friction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11247120" cy="4297680"/>
          </a:xfrm>
          <a:prstGeom prst="roundRect">
            <a:avLst/>
          </a:prstGeom>
          <a:solidFill>
            <a:srgbClr val="EFE0AE"/>
          </a:solidFill>
          <a:ln w="12700">
            <a:solidFill>
              <a:srgbClr val="E7D4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10881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333333"/>
                </a:solidFill>
              </a:rPr>
              <a:t>Black hole.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40080" y="5532120"/>
            <a:ext cx="10881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1D21"/>
                </a:solidFill>
              </a:rPr>
              <a:t>Chair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B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Salesforce: Improving, Not Complete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visibility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Cross-market account visibility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intelligence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Limitations: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less intuitive than Tableau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comprehensive campaign snapshot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hygiene gaps creating real operational harm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B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Beat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Newer staff: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Overwhelmed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Skim or skip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always on distribution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Suggestion raised: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into spring/fall editions.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2571750"/>
            <a:ext cx="5486400" cy="4114800"/>
          </a:xfrm>
          <a:prstGeom prst="ellipse">
            <a:avLst/>
          </a:prstGeom>
          <a:solidFill>
            <a:srgbClr val="FF5C5C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14575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B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Bottom-Up Innovation (Major Finding)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B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Insight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identified: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ELT Member Job Aid (national gap)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Annotated ELT agendas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Executives with Heart one-pagers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 email template workflow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coaching newsletters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slide decks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Market-level SharePoint restructuring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B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Aha Insight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represents: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efficiency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Redundant labor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Slower learning loops nationally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2571750"/>
            <a:ext cx="5486400" cy="4114800"/>
          </a:xfrm>
          <a:prstGeom prst="ellipse">
            <a:avLst/>
          </a:prstGeom>
          <a:solidFill>
            <a:srgbClr val="FF5C5C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14575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B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Staff Onboarding &amp; Development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B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What’s Working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B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What’s Not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live session during active campaign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durable retention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guides outperform videos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pacing inconsistent: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staff completed onboarding in four days (allocated 90).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 time during highest motivation window.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B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High-Leverage Insight: Peer Mentorship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11247120" cy="4297680"/>
          </a:xfrm>
          <a:prstGeom prst="roundRect">
            <a:avLst/>
          </a:prstGeom>
          <a:solidFill>
            <a:srgbClr val="EFE0AE"/>
          </a:solidFill>
          <a:ln w="12700">
            <a:solidFill>
              <a:srgbClr val="E7D4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10881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333333"/>
                </a:solidFill>
              </a:rPr>
              <a:t>My lifeline.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40080" y="5532120"/>
            <a:ext cx="10881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1D21"/>
                </a:solidFill>
              </a:rPr>
              <a:t>Chair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2571750"/>
            <a:ext cx="5486400" cy="4114800"/>
          </a:xfrm>
          <a:prstGeom prst="ellipse">
            <a:avLst/>
          </a:prstGeom>
          <a:solidFill>
            <a:srgbClr val="FF5C5C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14575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B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Messaging &amp; Framing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B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Framing Shift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with mission.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leadership opportunity.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logistics.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framing shift: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of: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“Here’s the ELT commitment.”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with:</a:t>
            </a:r>
            <a:endParaRPr lang="en-US" sz="2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“Do you want to lead something that changes your community?”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2571750"/>
            <a:ext cx="5486400" cy="4114800"/>
          </a:xfrm>
          <a:prstGeom prst="ellipse">
            <a:avLst/>
          </a:prstGeom>
          <a:solidFill>
            <a:srgbClr val="FF5C5C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14575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B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2026-02-21T06:36:20Z</dcterms:created>
  <dcterms:modified xsi:type="dcterms:W3CDTF">2026-02-21T06:36:20Z</dcterms:modified>
</cp:coreProperties>
</file>